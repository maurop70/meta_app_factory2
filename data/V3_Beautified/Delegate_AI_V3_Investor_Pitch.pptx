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center_hero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Antigravity-AI - Investor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Roboto"/>
              </a:defRPr>
            </a:pPr>
            <a:r>
              <a:t>Autonomous Intelligence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March 17,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kpi_grid_top_bullets_bottom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18-agent autonomous AI network (V7 Router)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Processing 50+ actionable signals/day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Self-healing infrastructure with 99.7% uptime target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Break-even: Month 2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Projected ROI: 340% Year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split_diagram_left_text_right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Scalable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V7 Agent Skills Router -&gt; 18 specialist agents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Delegate AI Orchestrator for performance-based routing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Leitner spaced-repetition error memory (5-level triage)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DataValidationEngine: Signal Warnings on bad data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News Bureau Chief: auto-triggered context refresh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full_canvas_diagram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Agent Network Architecture (V7)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1920240" cy="41148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System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1488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CEO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265176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CFO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315468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65760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Aether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416052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Delegate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46634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EQ Engine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1645920"/>
            <a:ext cx="192024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Intelligence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3160" y="21488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GeoTalent Scout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3160" y="265176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News Bureau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315468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Deep Crawler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23160" y="365760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Researcher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1645920"/>
            <a:ext cx="192024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Quality Gate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1488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The Critic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65176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Compliance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315468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The Librarian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1645920"/>
            <a:ext cx="1920240" cy="41148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Executive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21488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764B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Presentations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265176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764B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CX Strategist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315468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764B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0" y="1645920"/>
            <a:ext cx="1920240" cy="411480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Creative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21488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Designer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265176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Data Architect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5669280"/>
            <a:ext cx="137160" cy="13716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6509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System Core (6)</a:t>
            </a:r>
          </a:p>
        </p:txBody>
      </p:sp>
      <p:sp>
        <p:nvSpPr>
          <p:cNvPr id="30" name="Oval 29"/>
          <p:cNvSpPr/>
          <p:nvPr/>
        </p:nvSpPr>
        <p:spPr>
          <a:xfrm>
            <a:off x="2651760" y="5669280"/>
            <a:ext cx="137160" cy="1371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34640" y="56509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Intelligence (4)</a:t>
            </a:r>
          </a:p>
        </p:txBody>
      </p:sp>
      <p:sp>
        <p:nvSpPr>
          <p:cNvPr id="32" name="Oval 31"/>
          <p:cNvSpPr/>
          <p:nvPr/>
        </p:nvSpPr>
        <p:spPr>
          <a:xfrm>
            <a:off x="4846320" y="5669280"/>
            <a:ext cx="137160" cy="1371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0" y="56509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Quality Gate (3)</a:t>
            </a:r>
          </a:p>
        </p:txBody>
      </p:sp>
      <p:sp>
        <p:nvSpPr>
          <p:cNvPr id="34" name="Oval 33"/>
          <p:cNvSpPr/>
          <p:nvPr/>
        </p:nvSpPr>
        <p:spPr>
          <a:xfrm>
            <a:off x="7040879" y="5669280"/>
            <a:ext cx="137160" cy="137160"/>
          </a:xfrm>
          <a:prstGeom prst="ellipse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59" y="56509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Executive (3)</a:t>
            </a:r>
          </a:p>
        </p:txBody>
      </p:sp>
      <p:sp>
        <p:nvSpPr>
          <p:cNvPr id="36" name="Oval 35"/>
          <p:cNvSpPr/>
          <p:nvPr/>
        </p:nvSpPr>
        <p:spPr>
          <a:xfrm>
            <a:off x="9235440" y="5669280"/>
            <a:ext cx="137160" cy="137160"/>
          </a:xfrm>
          <a:prstGeom prst="ellipse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19" y="56509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Creative (2)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chart_left_bullets_right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Financial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Break-even: Month 2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Year 1 Revenue: $1.2M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Gross Margin: 68%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Cost per agent: $0.02/decision (token-efficient)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See attached XLSX: 12-month P&amp;L + Charts</a:t>
            </a:r>
          </a:p>
          <a:p>
            <a:pPr>
              <a:defRPr sz="1000" i="1">
                <a:solidFill>
                  <a:srgbClr val="10B981"/>
                </a:solidFill>
              </a:defRPr>
            </a:pPr>
            <a:r>
              <a:t>    Chart linked: Delegate_AI_2026_Projections_V2.xlsx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table_centered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Base Case: 74.9% margin, Month 2 break-even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Costs +50%: Margin shrinks but remains profitable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Costs Doubled: Still positive annual net profit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Revenue -20%: Margin compressed, breakeven delayed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Full scenario modeling in attached spreadsheet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horizontal_timeline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Growth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Q2 2026: Multi-tenant SaaS deployment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Q3 2026: API marketplace for agent skills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Q4 2026: Enterprise compliance certification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2027: International expansion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center_minimal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Roboto"/>
              </a:defRPr>
            </a:pPr>
            <a:r>
              <a:t>Antigravity-AI | Autonomous Intelligence Infrastructure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