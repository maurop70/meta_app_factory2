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Antigravity-AI — Investor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Roboto"/>
              </a:defRPr>
            </a:pPr>
            <a:r>
              <a:t>Autonomous Intelligence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March 11,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18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99.7%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Uptime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Month 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Break-Even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340%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ROI (Y1)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50+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Signals/Day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18-agent autonomous network managing trading, analysis &amp; ops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Self-healing with Leitner 5-level error triage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EQ Engine adapts to operator stress in real-time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Agent Network Architecture (V7)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1920240" cy="4114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System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214884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65176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CFO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315468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65760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Aether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416052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Delegate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66344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EQ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1645920"/>
            <a:ext cx="192024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14884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GeoTalent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65176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News Bureau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15468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Deep Crawler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65760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Researcher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645920"/>
            <a:ext cx="192024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Quality Gate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214884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Critic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5176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Compliance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315468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Librarian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645920"/>
            <a:ext cx="1920240" cy="41148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Executive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14884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Presentations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265176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CX Strategist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315468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645920"/>
            <a:ext cx="1920240" cy="41148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Creative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14884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Designer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2651760"/>
            <a:ext cx="1828800" cy="384048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Data Architect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760720"/>
            <a:ext cx="137160" cy="13716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System Core (6)</a:t>
            </a:r>
          </a:p>
        </p:txBody>
      </p:sp>
      <p:sp>
        <p:nvSpPr>
          <p:cNvPr id="29" name="Oval 28"/>
          <p:cNvSpPr/>
          <p:nvPr/>
        </p:nvSpPr>
        <p:spPr>
          <a:xfrm>
            <a:off x="2651760" y="576072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Intelligence (4)</a:t>
            </a:r>
          </a:p>
        </p:txBody>
      </p:sp>
      <p:sp>
        <p:nvSpPr>
          <p:cNvPr id="31" name="Oval 30"/>
          <p:cNvSpPr/>
          <p:nvPr/>
        </p:nvSpPr>
        <p:spPr>
          <a:xfrm>
            <a:off x="4846320" y="5760720"/>
            <a:ext cx="137160" cy="1371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Quality Gate (3)</a:t>
            </a:r>
          </a:p>
        </p:txBody>
      </p:sp>
      <p:sp>
        <p:nvSpPr>
          <p:cNvPr id="33" name="Oval 32"/>
          <p:cNvSpPr/>
          <p:nvPr/>
        </p:nvSpPr>
        <p:spPr>
          <a:xfrm>
            <a:off x="7040879" y="5760720"/>
            <a:ext cx="137160" cy="137160"/>
          </a:xfrm>
          <a:prstGeom prst="ellipse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59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Executive (3)</a:t>
            </a:r>
          </a:p>
        </p:txBody>
      </p:sp>
      <p:sp>
        <p:nvSpPr>
          <p:cNvPr id="35" name="Oval 34"/>
          <p:cNvSpPr/>
          <p:nvPr/>
        </p:nvSpPr>
        <p:spPr>
          <a:xfrm>
            <a:off x="9235440" y="5760720"/>
            <a:ext cx="137160" cy="137160"/>
          </a:xfrm>
          <a:prstGeom prst="ellipse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19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Creative (2)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System Health — OmniDashboard Live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16/18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Active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3.2/10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EQ Stress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5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Signal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12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Notifications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F4444"/>
                </a:solidFill>
                <a:latin typeface="Inter"/>
              </a:defRPr>
            </a:pPr>
            <a:r>
              <a:t>98.3%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n8n Failure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Agents: 16 active, 1 idle, 1 offline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Uptime target: 99.7% | EQ Stress Level: 3.2/10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n8n Failure Rate: 98.3% — FLAGGED FOR HIGH-PRIORITY OPTIMIZATION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Last Dashboard Refresh: 2026-03-11 18:32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Financial Projections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Month 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Break-Even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$1.2M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Y1 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74.9%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Gross Margin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$0.02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Cost/Decision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$50/mo ea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18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All projections formula-driven from Model Assumptions tab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Break-Even + Revenue chart embedded in XLSX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Market Share analysis: 15% target in AI Agent Infrastructure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Sensitivity: profitable even at costs doubled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5029200" cy="457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i="1">
                <a:solidFill>
                  <a:srgbClr val="10B981"/>
                </a:solidFill>
              </a:defRPr>
            </a:pPr>
            <a:r>
              <a:t>Charts: Delegate_AI_V3_Projections.xlsx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Sensitivity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74.9%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Base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~62%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Costs +50%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59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~49%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Costs Doubled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F4444"/>
                </a:solidFill>
                <a:latin typeface="Inter"/>
              </a:defRPr>
            </a:pPr>
            <a:r>
              <a:t>~24%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Costs Tripled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Even with costs doubled, annual net profit remains positive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Revenue -20% scenario: margin compressed but survivable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All scenarios formula-driven from Model Assumptions tab</a:t>
            </a:r>
          </a:p>
          <a:p>
            <a:pPr>
              <a:spcAft>
                <a:spcPts val="10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Full breakdown in Sensitivity Analysis sheet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Growth Roadmap</a:t>
            </a:r>
          </a:p>
        </p:txBody>
      </p:sp>
      <p:sp>
        <p:nvSpPr>
          <p:cNvPr id="4" name="Oval 3"/>
          <p:cNvSpPr/>
          <p:nvPr/>
        </p:nvSpPr>
        <p:spPr>
          <a:xfrm>
            <a:off x="1097280" y="18288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Q2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Multi-tenant SaaS</a:t>
            </a:r>
          </a:p>
        </p:txBody>
      </p:sp>
      <p:sp>
        <p:nvSpPr>
          <p:cNvPr id="7" name="Oval 6"/>
          <p:cNvSpPr/>
          <p:nvPr/>
        </p:nvSpPr>
        <p:spPr>
          <a:xfrm>
            <a:off x="3840480" y="1828800"/>
            <a:ext cx="274320" cy="27432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67EEA"/>
                </a:solidFill>
              </a:defRPr>
            </a:pPr>
            <a: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API Marketplace</a:t>
            </a:r>
          </a:p>
        </p:txBody>
      </p:sp>
      <p:sp>
        <p:nvSpPr>
          <p:cNvPr id="10" name="Oval 9"/>
          <p:cNvSpPr/>
          <p:nvPr/>
        </p:nvSpPr>
        <p:spPr>
          <a:xfrm>
            <a:off x="6583680" y="1828800"/>
            <a:ext cx="274320" cy="274320"/>
          </a:xfrm>
          <a:prstGeom prst="ellipse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EAB308"/>
                </a:solidFill>
              </a:defRPr>
            </a:pPr>
            <a:r>
              <a:t>Q4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Enterprise Cert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0" y="1828800"/>
            <a:ext cx="274320" cy="27432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67EEA"/>
                </a:solidFill>
              </a:defRPr>
            </a:pPr>
            <a:r>
              <a:t>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International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10058400" cy="1097280"/>
          </a:xfrm>
          <a:prstGeom prst="roundRect">
            <a:avLst/>
          </a:prstGeom>
          <a:solidFill>
            <a:srgbClr val="2D0A0A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  <a:latin typeface="Inter"/>
              </a:defRPr>
            </a:pPr>
            <a:r>
              <a:t>HIGH-PRIORITY OPTIMIZATION</a:t>
            </a:r>
          </a:p>
          <a:p>
            <a:pPr algn="ctr">
              <a:defRPr sz="1100">
                <a:solidFill>
                  <a:srgbClr val="FCA5A5"/>
                </a:solidFill>
              </a:defRPr>
            </a:pPr>
            <a:r>
              <a:t>n8n Failure Rate: 98.3% — Requires immediate reliability upgrade before multi-tenant SaaS launch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4A3B8"/>
                </a:solidFill>
              </a:defRPr>
            </a:pPr>
            <a:r>
              <a:t>Antigravity-AI | Autonomous Intelligence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