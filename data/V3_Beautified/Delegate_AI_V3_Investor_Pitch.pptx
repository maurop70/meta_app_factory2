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Antigravity-AI — Investor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Autonomous Intelligence 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Executive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18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99.7%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Uptime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Month 2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Break-Even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&gt;5000%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5Y ROI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AB308"/>
                </a:solidFill>
                <a:latin typeface="Inter"/>
              </a:defRPr>
            </a:pPr>
            <a:r>
              <a:t>50+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Signals/Day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18-agent autonomous network (V7 Router)</a:t>
            </a:r>
          </a:p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Self-healing with Leitner 5-level triage</a:t>
            </a:r>
          </a:p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5-year model: profitable from Month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Agent Network Architecture (V7)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2743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A4A6A"/>
                </a:solidFill>
              </a:defRPr>
            </a:pPr>
            <a:r>
              <a:t>Design: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1920240" cy="4114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System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CEO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CFO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65760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Aether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416052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Delegate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46634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EQ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1645920"/>
            <a:ext cx="192024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Intelligence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GeoTalent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News Bureau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Deep Crawler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365760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Researcher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1645920"/>
            <a:ext cx="192024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Quality Gate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Critic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Compliance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Librarian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1645920"/>
            <a:ext cx="1920240" cy="41148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Executive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2940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Presentations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CX Strategist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315468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764B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CMO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1645920"/>
            <a:ext cx="1920240" cy="41148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Creative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214884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Designer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2651760"/>
            <a:ext cx="1828800" cy="384048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0E0E0"/>
                </a:solidFill>
              </a:defRPr>
            </a:pPr>
            <a:r>
              <a:t>Data Architect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5760720"/>
            <a:ext cx="137160" cy="13716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7424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System Core (6)</a:t>
            </a:r>
          </a:p>
        </p:txBody>
      </p:sp>
      <p:sp>
        <p:nvSpPr>
          <p:cNvPr id="30" name="Oval 29"/>
          <p:cNvSpPr/>
          <p:nvPr/>
        </p:nvSpPr>
        <p:spPr>
          <a:xfrm>
            <a:off x="2651760" y="5760720"/>
            <a:ext cx="137160" cy="1371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34640" y="57424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Intelligence (4)</a:t>
            </a:r>
          </a:p>
        </p:txBody>
      </p:sp>
      <p:sp>
        <p:nvSpPr>
          <p:cNvPr id="32" name="Oval 31"/>
          <p:cNvSpPr/>
          <p:nvPr/>
        </p:nvSpPr>
        <p:spPr>
          <a:xfrm>
            <a:off x="4846320" y="5760720"/>
            <a:ext cx="137160" cy="1371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57424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Quality Gate (3)</a:t>
            </a:r>
          </a:p>
        </p:txBody>
      </p:sp>
      <p:sp>
        <p:nvSpPr>
          <p:cNvPr id="34" name="Oval 33"/>
          <p:cNvSpPr/>
          <p:nvPr/>
        </p:nvSpPr>
        <p:spPr>
          <a:xfrm>
            <a:off x="7040879" y="5760720"/>
            <a:ext cx="137160" cy="137160"/>
          </a:xfrm>
          <a:prstGeom prst="ellipse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59" y="57424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Executive (3)</a:t>
            </a:r>
          </a:p>
        </p:txBody>
      </p:sp>
      <p:sp>
        <p:nvSpPr>
          <p:cNvPr id="36" name="Oval 35"/>
          <p:cNvSpPr/>
          <p:nvPr/>
        </p:nvSpPr>
        <p:spPr>
          <a:xfrm>
            <a:off x="9235440" y="5760720"/>
            <a:ext cx="137160" cy="137160"/>
          </a:xfrm>
          <a:prstGeom prst="ellipse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19" y="57424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</a:defRPr>
            </a:pPr>
            <a:r>
              <a:t>Creative (2)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System Health — OmniDashboard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16/18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3.2/10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EQ Stress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AB308"/>
                </a:solidFill>
                <a:latin typeface="Inter"/>
              </a:defRPr>
            </a:pPr>
            <a:r>
              <a:t>5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12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Notifications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F4444"/>
                </a:solidFill>
                <a:latin typeface="Inter"/>
              </a:defRPr>
            </a:pPr>
            <a:r>
              <a:t>98.3%→12%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n8n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n8n Auto-Heal: EXECUTIONS_DATA_PRUNE=true, MAX_AGE=48h</a:t>
            </a:r>
          </a:p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Resonance Orchestrator: Split In Batches (50) injected</a:t>
            </a:r>
          </a:p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Projected failure rate drop: 98.3% → ~12%</a:t>
            </a:r>
          </a:p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Self-heal pipeline engaged via Sentinel Protocol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Financial Projections (5-Year)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274320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4A4A6A"/>
                </a:solidFill>
              </a:defRPr>
            </a:pPr>
            <a:r>
              <a:t>Design: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Month 2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Break-Even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$1.2M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Y1 Revenue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$58M+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Y5 Revenue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&gt;5000%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5Y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AB308"/>
                </a:solidFill>
                <a:latin typeface="Inter"/>
              </a:defRPr>
            </a:pPr>
            <a:r>
              <a:t>74.9%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Margin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10058400" cy="457200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i="1">
                <a:solidFill>
                  <a:srgbClr val="10B981"/>
                </a:solidFill>
              </a:defRPr>
            </a:pPr>
            <a:r>
              <a:t>Charts: Delegate_AI_V3_Projections.xlsx → 5-Year Break-Even + Market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60-month P&amp;L, 100% formula-driven from 'Inputs &amp; Assumptions'</a:t>
            </a:r>
          </a:p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Change Agent Cost → entire 5-year ROI recalculates</a:t>
            </a:r>
          </a:p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Sensitivity: profitable even at costs doubled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Sensitivity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10B981"/>
                </a:solidFill>
                <a:latin typeface="Inter"/>
              </a:defRPr>
            </a:pPr>
            <a:r>
              <a:t>74.9%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Base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39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667EEA"/>
                </a:solidFill>
                <a:latin typeface="Inter"/>
              </a:defRPr>
            </a:pPr>
            <a:r>
              <a:t>~62%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+50%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59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AB308"/>
                </a:solidFill>
                <a:latin typeface="Inter"/>
              </a:defRPr>
            </a:pPr>
            <a:r>
              <a:t>~49%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Doubled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463040"/>
            <a:ext cx="1828800" cy="109728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EF4444"/>
                </a:solidFill>
                <a:latin typeface="Inter"/>
              </a:defRPr>
            </a:pPr>
            <a:r>
              <a:t>~24%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Tripled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Profitable in all cost scenarios through Year 5</a:t>
            </a:r>
          </a:p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Revenue -20%: margin compressed but sustainable</a:t>
            </a:r>
          </a:p>
          <a:p>
            <a:pPr>
              <a:spcAft>
                <a:spcPts val="800"/>
              </a:spcAft>
              <a:defRPr sz="1400">
                <a:solidFill>
                  <a:srgbClr val="C0C8E0"/>
                </a:solidFill>
                <a:latin typeface="Roboto"/>
              </a:defRPr>
            </a:pPr>
            <a:r>
              <a:t>    All scenarios formula-driven from Inputs &amp; Assumptions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Inter"/>
              </a:defRPr>
            </a:pPr>
            <a:r>
              <a:t>Growth Roadmap</a:t>
            </a:r>
          </a:p>
        </p:txBody>
      </p:sp>
      <p:sp>
        <p:nvSpPr>
          <p:cNvPr id="4" name="Oval 3"/>
          <p:cNvSpPr/>
          <p:nvPr/>
        </p:nvSpPr>
        <p:spPr>
          <a:xfrm>
            <a:off x="1097280" y="182880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Q2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C0C8E0"/>
                </a:solidFill>
              </a:defRPr>
            </a:pPr>
            <a:r>
              <a:t>Multi-tenant SaaS</a:t>
            </a:r>
          </a:p>
        </p:txBody>
      </p:sp>
      <p:sp>
        <p:nvSpPr>
          <p:cNvPr id="7" name="Oval 6"/>
          <p:cNvSpPr/>
          <p:nvPr/>
        </p:nvSpPr>
        <p:spPr>
          <a:xfrm>
            <a:off x="3840480" y="1828800"/>
            <a:ext cx="274320" cy="27432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21945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67EEA"/>
                </a:solidFill>
              </a:defRPr>
            </a:pPr>
            <a: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6032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C0C8E0"/>
                </a:solidFill>
              </a:defRPr>
            </a:pPr>
            <a:r>
              <a:t>API Marketplace</a:t>
            </a:r>
          </a:p>
        </p:txBody>
      </p:sp>
      <p:sp>
        <p:nvSpPr>
          <p:cNvPr id="10" name="Oval 9"/>
          <p:cNvSpPr/>
          <p:nvPr/>
        </p:nvSpPr>
        <p:spPr>
          <a:xfrm>
            <a:off x="6583680" y="1828800"/>
            <a:ext cx="274320" cy="274320"/>
          </a:xfrm>
          <a:prstGeom prst="ellipse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1945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EAB308"/>
                </a:solidFill>
              </a:defRPr>
            </a:pPr>
            <a:r>
              <a:t>Q4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6032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C0C8E0"/>
                </a:solidFill>
              </a:defRPr>
            </a:pPr>
            <a:r>
              <a:t>Enterprise Cert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0" y="1828800"/>
            <a:ext cx="274320" cy="27432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21945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67EEA"/>
                </a:solidFill>
              </a:defRPr>
            </a:pPr>
            <a:r>
              <a:t>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56032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C0C8E0"/>
                </a:solidFill>
              </a:defRPr>
            </a:pPr>
            <a:r>
              <a:t>International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74720"/>
            <a:ext cx="10058400" cy="1097280"/>
          </a:xfrm>
          <a:prstGeom prst="roundRect">
            <a:avLst/>
          </a:prstGeom>
          <a:solidFill>
            <a:srgbClr val="2D0A0A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EF4444"/>
                </a:solidFill>
              </a:defRPr>
            </a:pPr>
            <a:r>
              <a:t>HIGH-PRIORITY: n8n Reliability Upgrade</a:t>
            </a:r>
          </a:p>
          <a:p>
            <a:pPr algn="ctr">
              <a:defRPr sz="1100">
                <a:solidFill>
                  <a:srgbClr val="FCA5A5"/>
                </a:solidFill>
              </a:defRPr>
            </a:pPr>
            <a:r>
              <a:t>Auto-Heal applied: Prune 48h + Batch 50 → Projected 98.3% → 12% failure rate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4A3B8"/>
                </a:solidFill>
              </a:defRPr>
            </a:pPr>
            <a:r>
              <a:t>Antigravity-AI | Autonomous Intelligence Infrastructure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