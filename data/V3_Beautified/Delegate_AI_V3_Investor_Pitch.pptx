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Inter"/>
              </a:defRPr>
            </a:pPr>
            <a:r>
              <a:t>Antigravity-AI — Investor Brief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92608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94A3B8"/>
                </a:solidFill>
              </a:defRPr>
            </a:pPr>
            <a:r>
              <a:t>Autonomous Intelligence Infrastructure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Inter"/>
              </a:defRPr>
            </a:pPr>
            <a:r>
              <a:t>Executive Summary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1828800" cy="1097280"/>
          </a:xfrm>
          <a:prstGeom prst="roundRect">
            <a:avLst/>
          </a:prstGeom>
          <a:solidFill>
            <a:srgbClr val="1A1A2E"/>
          </a:solidFill>
          <a:ln w="2540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solidFill>
                  <a:srgbClr val="667EEA"/>
                </a:solidFill>
                <a:latin typeface="Inter"/>
              </a:defRPr>
            </a:pPr>
            <a:r>
              <a:t>18</a:t>
            </a:r>
          </a:p>
          <a:p>
            <a:pPr algn="ctr">
              <a:defRPr sz="900">
                <a:solidFill>
                  <a:srgbClr val="94A3B8"/>
                </a:solidFill>
              </a:defRPr>
            </a:pPr>
            <a:r>
              <a:t>Agents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926080" y="1463040"/>
            <a:ext cx="1828800" cy="1097280"/>
          </a:xfrm>
          <a:prstGeom prst="roundRect">
            <a:avLst/>
          </a:prstGeom>
          <a:solidFill>
            <a:srgbClr val="1A1A2E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solidFill>
                  <a:srgbClr val="10B981"/>
                </a:solidFill>
                <a:latin typeface="Inter"/>
              </a:defRPr>
            </a:pPr>
            <a:r>
              <a:t>99.7%</a:t>
            </a:r>
          </a:p>
          <a:p>
            <a:pPr algn="ctr">
              <a:defRPr sz="900">
                <a:solidFill>
                  <a:srgbClr val="94A3B8"/>
                </a:solidFill>
              </a:defRPr>
            </a:pPr>
            <a:r>
              <a:t>Uptime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120640" y="1463040"/>
            <a:ext cx="1828800" cy="1097280"/>
          </a:xfrm>
          <a:prstGeom prst="roundRect">
            <a:avLst/>
          </a:prstGeom>
          <a:solidFill>
            <a:srgbClr val="1A1A2E"/>
          </a:solidFill>
          <a:ln w="2540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solidFill>
                  <a:srgbClr val="667EEA"/>
                </a:solidFill>
                <a:latin typeface="Inter"/>
              </a:defRPr>
            </a:pPr>
            <a:r>
              <a:t>Month 2</a:t>
            </a:r>
          </a:p>
          <a:p>
            <a:pPr algn="ctr">
              <a:defRPr sz="900">
                <a:solidFill>
                  <a:srgbClr val="94A3B8"/>
                </a:solidFill>
              </a:defRPr>
            </a:pPr>
            <a:r>
              <a:t>Break-Even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0" y="1463040"/>
            <a:ext cx="1828800" cy="1097280"/>
          </a:xfrm>
          <a:prstGeom prst="roundRect">
            <a:avLst/>
          </a:prstGeom>
          <a:solidFill>
            <a:srgbClr val="1A1A2E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solidFill>
                  <a:srgbClr val="10B981"/>
                </a:solidFill>
                <a:latin typeface="Inter"/>
              </a:defRPr>
            </a:pPr>
            <a:r>
              <a:t>&gt;5000%</a:t>
            </a:r>
          </a:p>
          <a:p>
            <a:pPr algn="ctr">
              <a:defRPr sz="900">
                <a:solidFill>
                  <a:srgbClr val="94A3B8"/>
                </a:solidFill>
              </a:defRPr>
            </a:pPr>
            <a:r>
              <a:t>5Y ROI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509760" y="1463040"/>
            <a:ext cx="1828800" cy="1097280"/>
          </a:xfrm>
          <a:prstGeom prst="roundRect">
            <a:avLst/>
          </a:prstGeom>
          <a:solidFill>
            <a:srgbClr val="1A1A2E"/>
          </a:solidFill>
          <a:ln w="25400">
            <a:solidFill>
              <a:srgbClr val="EAB3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solidFill>
                  <a:srgbClr val="EAB308"/>
                </a:solidFill>
                <a:latin typeface="Inter"/>
              </a:defRPr>
            </a:pPr>
            <a:r>
              <a:t>50+</a:t>
            </a:r>
          </a:p>
          <a:p>
            <a:pPr algn="ctr">
              <a:defRPr sz="900">
                <a:solidFill>
                  <a:srgbClr val="94A3B8"/>
                </a:solidFill>
              </a:defRPr>
            </a:pPr>
            <a:r>
              <a:t>Signals/Day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926080"/>
            <a:ext cx="10058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C0C8E0"/>
                </a:solidFill>
                <a:latin typeface="Roboto"/>
              </a:defRPr>
            </a:pPr>
            <a:r>
              <a:t>    18-agent autonomous network (V7 Router)</a:t>
            </a:r>
          </a:p>
          <a:p>
            <a:pPr>
              <a:spcAft>
                <a:spcPts val="800"/>
              </a:spcAft>
              <a:defRPr sz="1400">
                <a:solidFill>
                  <a:srgbClr val="C0C8E0"/>
                </a:solidFill>
                <a:latin typeface="Roboto"/>
              </a:defRPr>
            </a:pPr>
            <a:r>
              <a:t>    Self-healing with Leitner 5-level triage</a:t>
            </a:r>
          </a:p>
          <a:p>
            <a:pPr>
              <a:spcAft>
                <a:spcPts val="800"/>
              </a:spcAft>
              <a:defRPr sz="1400">
                <a:solidFill>
                  <a:srgbClr val="C0C8E0"/>
                </a:solidFill>
                <a:latin typeface="Roboto"/>
              </a:defRPr>
            </a:pPr>
            <a:r>
              <a:t>    5-year model: profitable from Month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Inter"/>
              </a:defRPr>
            </a:pPr>
            <a:r>
              <a:t>Agent Network Architecture (V7)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274320"/>
            <a:ext cx="3200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4A4A6A"/>
                </a:solidFill>
              </a:defRPr>
            </a:pPr>
            <a:r>
              <a:t>Design: library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645920"/>
            <a:ext cx="1920240" cy="411480"/>
          </a:xfrm>
          <a:prstGeom prst="round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System Core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" y="2148840"/>
            <a:ext cx="1828800" cy="384048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E0E0E0"/>
                </a:solidFill>
              </a:defRPr>
            </a:pPr>
            <a:r>
              <a:t>CEO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" y="2651760"/>
            <a:ext cx="1828800" cy="384048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E0E0E0"/>
                </a:solidFill>
              </a:defRPr>
            </a:pPr>
            <a:r>
              <a:t>CFO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0040" y="3154680"/>
            <a:ext cx="1828800" cy="384048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E0E0E0"/>
                </a:solidFill>
              </a:defRPr>
            </a:pPr>
            <a:r>
              <a:t>CTO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3657600"/>
            <a:ext cx="1828800" cy="384048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E0E0E0"/>
                </a:solidFill>
              </a:defRPr>
            </a:pPr>
            <a:r>
              <a:t>Aether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4160520"/>
            <a:ext cx="1828800" cy="384048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E0E0E0"/>
                </a:solidFill>
              </a:defRPr>
            </a:pPr>
            <a:r>
              <a:t>Delegate AI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0040" y="4663440"/>
            <a:ext cx="1828800" cy="384048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E0E0E0"/>
                </a:solidFill>
              </a:defRPr>
            </a:pPr>
            <a:r>
              <a:t>EQ Engine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377440" y="1645920"/>
            <a:ext cx="1920240" cy="41148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Intelligence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423160" y="2148840"/>
            <a:ext cx="1828800" cy="384048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E0E0E0"/>
                </a:solidFill>
              </a:defRPr>
            </a:pPr>
            <a:r>
              <a:t>GeoTalent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423160" y="2651760"/>
            <a:ext cx="1828800" cy="384048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E0E0E0"/>
                </a:solidFill>
              </a:defRPr>
            </a:pPr>
            <a:r>
              <a:t>News Bureau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423160" y="3154680"/>
            <a:ext cx="1828800" cy="384048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E0E0E0"/>
                </a:solidFill>
              </a:defRPr>
            </a:pPr>
            <a:r>
              <a:t>Deep Crawler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423160" y="3657600"/>
            <a:ext cx="1828800" cy="384048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E0E0E0"/>
                </a:solidFill>
              </a:defRPr>
            </a:pPr>
            <a:r>
              <a:t>Researcher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80560" y="1645920"/>
            <a:ext cx="1920240" cy="411480"/>
          </a:xfrm>
          <a:prstGeom prst="round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Quality Gate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26280" y="2148840"/>
            <a:ext cx="1828800" cy="384048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E0E0E0"/>
                </a:solidFill>
              </a:defRPr>
            </a:pPr>
            <a:r>
              <a:t>Critic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26280" y="2651760"/>
            <a:ext cx="1828800" cy="384048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E0E0E0"/>
                </a:solidFill>
              </a:defRPr>
            </a:pPr>
            <a:r>
              <a:t>Compliance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26280" y="3154680"/>
            <a:ext cx="1828800" cy="384048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E0E0E0"/>
                </a:solidFill>
              </a:defRPr>
            </a:pPr>
            <a:r>
              <a:t>Librarian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0" y="1645920"/>
            <a:ext cx="1920240" cy="411480"/>
          </a:xfrm>
          <a:prstGeom prst="roundRect">
            <a:avLst/>
          </a:prstGeom>
          <a:solidFill>
            <a:srgbClr val="764B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Executive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629400" y="2148840"/>
            <a:ext cx="1828800" cy="384048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764B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E0E0E0"/>
                </a:solidFill>
              </a:defRPr>
            </a:pPr>
            <a:r>
              <a:t>Presentations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629400" y="2651760"/>
            <a:ext cx="1828800" cy="384048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764B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E0E0E0"/>
                </a:solidFill>
              </a:defRPr>
            </a:pPr>
            <a:r>
              <a:t>CX Strategist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629400" y="3154680"/>
            <a:ext cx="1828800" cy="384048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764B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E0E0E0"/>
                </a:solidFill>
              </a:defRPr>
            </a:pPr>
            <a:r>
              <a:t>CMO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686800" y="1645920"/>
            <a:ext cx="1920240" cy="411480"/>
          </a:xfrm>
          <a:prstGeom prst="round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Creative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732520" y="2148840"/>
            <a:ext cx="1828800" cy="384048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EAB3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E0E0E0"/>
                </a:solidFill>
              </a:defRPr>
            </a:pPr>
            <a:r>
              <a:t>Designer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732520" y="2651760"/>
            <a:ext cx="1828800" cy="384048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EAB3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E0E0E0"/>
                </a:solidFill>
              </a:defRPr>
            </a:pPr>
            <a:r>
              <a:t>Data Architect</a:t>
            </a:r>
          </a:p>
        </p:txBody>
      </p:sp>
      <p:sp>
        <p:nvSpPr>
          <p:cNvPr id="28" name="Oval 27"/>
          <p:cNvSpPr/>
          <p:nvPr/>
        </p:nvSpPr>
        <p:spPr>
          <a:xfrm>
            <a:off x="457200" y="5760720"/>
            <a:ext cx="137160" cy="137160"/>
          </a:xfrm>
          <a:prstGeom prst="ellipse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5742432"/>
            <a:ext cx="1828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94A3B8"/>
                </a:solidFill>
              </a:defRPr>
            </a:pPr>
            <a:r>
              <a:t>System Core (6)</a:t>
            </a:r>
          </a:p>
        </p:txBody>
      </p:sp>
      <p:sp>
        <p:nvSpPr>
          <p:cNvPr id="30" name="Oval 29"/>
          <p:cNvSpPr/>
          <p:nvPr/>
        </p:nvSpPr>
        <p:spPr>
          <a:xfrm>
            <a:off x="2651760" y="5760720"/>
            <a:ext cx="137160" cy="13716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834640" y="5742432"/>
            <a:ext cx="1828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94A3B8"/>
                </a:solidFill>
              </a:defRPr>
            </a:pPr>
            <a:r>
              <a:t>Intelligence (4)</a:t>
            </a:r>
          </a:p>
        </p:txBody>
      </p:sp>
      <p:sp>
        <p:nvSpPr>
          <p:cNvPr id="32" name="Oval 31"/>
          <p:cNvSpPr/>
          <p:nvPr/>
        </p:nvSpPr>
        <p:spPr>
          <a:xfrm>
            <a:off x="4846320" y="5760720"/>
            <a:ext cx="137160" cy="137160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29200" y="5742432"/>
            <a:ext cx="1828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94A3B8"/>
                </a:solidFill>
              </a:defRPr>
            </a:pPr>
            <a:r>
              <a:t>Quality Gate (3)</a:t>
            </a:r>
          </a:p>
        </p:txBody>
      </p:sp>
      <p:sp>
        <p:nvSpPr>
          <p:cNvPr id="34" name="Oval 33"/>
          <p:cNvSpPr/>
          <p:nvPr/>
        </p:nvSpPr>
        <p:spPr>
          <a:xfrm>
            <a:off x="7040879" y="5760720"/>
            <a:ext cx="137160" cy="137160"/>
          </a:xfrm>
          <a:prstGeom prst="ellipse">
            <a:avLst/>
          </a:prstGeom>
          <a:solidFill>
            <a:srgbClr val="764B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223759" y="5742432"/>
            <a:ext cx="1828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94A3B8"/>
                </a:solidFill>
              </a:defRPr>
            </a:pPr>
            <a:r>
              <a:t>Executive (3)</a:t>
            </a:r>
          </a:p>
        </p:txBody>
      </p:sp>
      <p:sp>
        <p:nvSpPr>
          <p:cNvPr id="36" name="Oval 35"/>
          <p:cNvSpPr/>
          <p:nvPr/>
        </p:nvSpPr>
        <p:spPr>
          <a:xfrm>
            <a:off x="9235440" y="5760720"/>
            <a:ext cx="137160" cy="137160"/>
          </a:xfrm>
          <a:prstGeom prst="ellipse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418319" y="5742432"/>
            <a:ext cx="1828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94A3B8"/>
                </a:solidFill>
              </a:defRPr>
            </a:pPr>
            <a:r>
              <a:t>Creative (2)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Inter"/>
              </a:defRPr>
            </a:pPr>
            <a:r>
              <a:t>System Health — OmniDashboard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1828800" cy="1097280"/>
          </a:xfrm>
          <a:prstGeom prst="roundRect">
            <a:avLst/>
          </a:prstGeom>
          <a:solidFill>
            <a:srgbClr val="1A1A2E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solidFill>
                  <a:srgbClr val="10B981"/>
                </a:solidFill>
                <a:latin typeface="Inter"/>
              </a:defRPr>
            </a:pPr>
            <a:r>
              <a:t>16/18</a:t>
            </a:r>
          </a:p>
          <a:p>
            <a:pPr algn="ctr">
              <a:defRPr sz="900">
                <a:solidFill>
                  <a:srgbClr val="94A3B8"/>
                </a:solidFill>
              </a:defRPr>
            </a:pPr>
            <a:r>
              <a:t>Active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926080" y="1463040"/>
            <a:ext cx="1828800" cy="1097280"/>
          </a:xfrm>
          <a:prstGeom prst="roundRect">
            <a:avLst/>
          </a:prstGeom>
          <a:solidFill>
            <a:srgbClr val="1A1A2E"/>
          </a:solidFill>
          <a:ln w="2540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solidFill>
                  <a:srgbClr val="667EEA"/>
                </a:solidFill>
                <a:latin typeface="Inter"/>
              </a:defRPr>
            </a:pPr>
            <a:r>
              <a:t>3.2/10</a:t>
            </a:r>
          </a:p>
          <a:p>
            <a:pPr algn="ctr">
              <a:defRPr sz="900">
                <a:solidFill>
                  <a:srgbClr val="94A3B8"/>
                </a:solidFill>
              </a:defRPr>
            </a:pPr>
            <a:r>
              <a:t>EQ Stress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120640" y="1463040"/>
            <a:ext cx="1828800" cy="1097280"/>
          </a:xfrm>
          <a:prstGeom prst="roundRect">
            <a:avLst/>
          </a:prstGeom>
          <a:solidFill>
            <a:srgbClr val="1A1A2E"/>
          </a:solidFill>
          <a:ln w="25400">
            <a:solidFill>
              <a:srgbClr val="EAB3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solidFill>
                  <a:srgbClr val="EAB308"/>
                </a:solidFill>
                <a:latin typeface="Inter"/>
              </a:defRPr>
            </a:pPr>
            <a:r>
              <a:t>5</a:t>
            </a:r>
          </a:p>
          <a:p>
            <a:pPr algn="ctr">
              <a:defRPr sz="900">
                <a:solidFill>
                  <a:srgbClr val="94A3B8"/>
                </a:solidFill>
              </a:defRPr>
            </a:pPr>
            <a:r>
              <a:t>Alerts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0" y="1463040"/>
            <a:ext cx="1828800" cy="1097280"/>
          </a:xfrm>
          <a:prstGeom prst="roundRect">
            <a:avLst/>
          </a:prstGeom>
          <a:solidFill>
            <a:srgbClr val="1A1A2E"/>
          </a:solidFill>
          <a:ln w="2540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solidFill>
                  <a:srgbClr val="667EEA"/>
                </a:solidFill>
                <a:latin typeface="Inter"/>
              </a:defRPr>
            </a:pPr>
            <a:r>
              <a:t>12</a:t>
            </a:r>
          </a:p>
          <a:p>
            <a:pPr algn="ctr">
              <a:defRPr sz="900">
                <a:solidFill>
                  <a:srgbClr val="94A3B8"/>
                </a:solidFill>
              </a:defRPr>
            </a:pPr>
            <a:r>
              <a:t>Notifications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509760" y="1463040"/>
            <a:ext cx="1828800" cy="1097280"/>
          </a:xfrm>
          <a:prstGeom prst="roundRect">
            <a:avLst/>
          </a:prstGeom>
          <a:solidFill>
            <a:srgbClr val="1A1A2E"/>
          </a:solidFill>
          <a:ln w="254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solidFill>
                  <a:srgbClr val="EF4444"/>
                </a:solidFill>
                <a:latin typeface="Inter"/>
              </a:defRPr>
            </a:pPr>
            <a:r>
              <a:t>98.3%→12%</a:t>
            </a:r>
          </a:p>
          <a:p>
            <a:pPr algn="ctr">
              <a:defRPr sz="900">
                <a:solidFill>
                  <a:srgbClr val="94A3B8"/>
                </a:solidFill>
              </a:defRPr>
            </a:pPr>
            <a:r>
              <a:t>n8n Failure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926080"/>
            <a:ext cx="10058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C0C8E0"/>
                </a:solidFill>
                <a:latin typeface="Roboto"/>
              </a:defRPr>
            </a:pPr>
            <a:r>
              <a:t>    n8n Auto-Heal: EXECUTIONS_DATA_PRUNE=true, MAX_AGE=48h</a:t>
            </a:r>
          </a:p>
          <a:p>
            <a:pPr>
              <a:spcAft>
                <a:spcPts val="800"/>
              </a:spcAft>
              <a:defRPr sz="1400">
                <a:solidFill>
                  <a:srgbClr val="C0C8E0"/>
                </a:solidFill>
                <a:latin typeface="Roboto"/>
              </a:defRPr>
            </a:pPr>
            <a:r>
              <a:t>    Resonance Orchestrator: Split In Batches (50) injected</a:t>
            </a:r>
          </a:p>
          <a:p>
            <a:pPr>
              <a:spcAft>
                <a:spcPts val="800"/>
              </a:spcAft>
              <a:defRPr sz="1400">
                <a:solidFill>
                  <a:srgbClr val="C0C8E0"/>
                </a:solidFill>
                <a:latin typeface="Roboto"/>
              </a:defRPr>
            </a:pPr>
            <a:r>
              <a:t>    Projected failure rate drop: 98.3% → ~12%</a:t>
            </a:r>
          </a:p>
          <a:p>
            <a:pPr>
              <a:spcAft>
                <a:spcPts val="800"/>
              </a:spcAft>
              <a:defRPr sz="1400">
                <a:solidFill>
                  <a:srgbClr val="C0C8E0"/>
                </a:solidFill>
                <a:latin typeface="Roboto"/>
              </a:defRPr>
            </a:pPr>
            <a:r>
              <a:t>    Self-heal pipeline engaged via Sentinel Protocol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Inter"/>
              </a:defRPr>
            </a:pPr>
            <a:r>
              <a:t>Financial Projections (5-Year)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274320"/>
            <a:ext cx="3200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4A4A6A"/>
                </a:solidFill>
              </a:defRPr>
            </a:pPr>
            <a:r>
              <a:t>Design: library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1828800" cy="1097280"/>
          </a:xfrm>
          <a:prstGeom prst="roundRect">
            <a:avLst/>
          </a:prstGeom>
          <a:solidFill>
            <a:srgbClr val="1A1A2E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solidFill>
                  <a:srgbClr val="10B981"/>
                </a:solidFill>
                <a:latin typeface="Inter"/>
              </a:defRPr>
            </a:pPr>
            <a:r>
              <a:t>Month 2</a:t>
            </a:r>
          </a:p>
          <a:p>
            <a:pPr algn="ctr">
              <a:defRPr sz="900">
                <a:solidFill>
                  <a:srgbClr val="94A3B8"/>
                </a:solidFill>
              </a:defRPr>
            </a:pPr>
            <a:r>
              <a:t>Break-Even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26080" y="1463040"/>
            <a:ext cx="1828800" cy="1097280"/>
          </a:xfrm>
          <a:prstGeom prst="roundRect">
            <a:avLst/>
          </a:prstGeom>
          <a:solidFill>
            <a:srgbClr val="1A1A2E"/>
          </a:solidFill>
          <a:ln w="2540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solidFill>
                  <a:srgbClr val="667EEA"/>
                </a:solidFill>
                <a:latin typeface="Inter"/>
              </a:defRPr>
            </a:pPr>
            <a:r>
              <a:t>$1.2M</a:t>
            </a:r>
          </a:p>
          <a:p>
            <a:pPr algn="ctr">
              <a:defRPr sz="900">
                <a:solidFill>
                  <a:srgbClr val="94A3B8"/>
                </a:solidFill>
              </a:defRPr>
            </a:pPr>
            <a:r>
              <a:t>Y1 Revenue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120640" y="1463040"/>
            <a:ext cx="1828800" cy="1097280"/>
          </a:xfrm>
          <a:prstGeom prst="roundRect">
            <a:avLst/>
          </a:prstGeom>
          <a:solidFill>
            <a:srgbClr val="1A1A2E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solidFill>
                  <a:srgbClr val="10B981"/>
                </a:solidFill>
                <a:latin typeface="Inter"/>
              </a:defRPr>
            </a:pPr>
            <a:r>
              <a:t>$58M+</a:t>
            </a:r>
          </a:p>
          <a:p>
            <a:pPr algn="ctr">
              <a:defRPr sz="900">
                <a:solidFill>
                  <a:srgbClr val="94A3B8"/>
                </a:solidFill>
              </a:defRPr>
            </a:pPr>
            <a:r>
              <a:t>Y5 Revenue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0" y="1463040"/>
            <a:ext cx="1828800" cy="1097280"/>
          </a:xfrm>
          <a:prstGeom prst="roundRect">
            <a:avLst/>
          </a:prstGeom>
          <a:solidFill>
            <a:srgbClr val="1A1A2E"/>
          </a:solidFill>
          <a:ln w="2540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solidFill>
                  <a:srgbClr val="667EEA"/>
                </a:solidFill>
                <a:latin typeface="Inter"/>
              </a:defRPr>
            </a:pPr>
            <a:r>
              <a:t>&gt;5000%</a:t>
            </a:r>
          </a:p>
          <a:p>
            <a:pPr algn="ctr">
              <a:defRPr sz="900">
                <a:solidFill>
                  <a:srgbClr val="94A3B8"/>
                </a:solidFill>
              </a:defRPr>
            </a:pPr>
            <a:r>
              <a:t>5Y ROI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09760" y="1463040"/>
            <a:ext cx="1828800" cy="1097280"/>
          </a:xfrm>
          <a:prstGeom prst="roundRect">
            <a:avLst/>
          </a:prstGeom>
          <a:solidFill>
            <a:srgbClr val="1A1A2E"/>
          </a:solidFill>
          <a:ln w="25400">
            <a:solidFill>
              <a:srgbClr val="EAB3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solidFill>
                  <a:srgbClr val="EAB308"/>
                </a:solidFill>
                <a:latin typeface="Inter"/>
              </a:defRPr>
            </a:pPr>
            <a:r>
              <a:t>74.9%</a:t>
            </a:r>
          </a:p>
          <a:p>
            <a:pPr algn="ctr">
              <a:defRPr sz="900">
                <a:solidFill>
                  <a:srgbClr val="94A3B8"/>
                </a:solidFill>
              </a:defRPr>
            </a:pPr>
            <a:r>
              <a:t>Margin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926080"/>
            <a:ext cx="10058400" cy="45720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i="1">
                <a:solidFill>
                  <a:srgbClr val="10B981"/>
                </a:solidFill>
              </a:defRPr>
            </a:pPr>
            <a:r>
              <a:t>Charts: Delegate_AI_V3_Projections.xlsx → 5-Year Break-Even + Market Share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657600"/>
            <a:ext cx="10058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C0C8E0"/>
                </a:solidFill>
                <a:latin typeface="Roboto"/>
              </a:defRPr>
            </a:pPr>
            <a:r>
              <a:t>    60-month P&amp;L, 100% formula-driven from 'Inputs &amp; Assumptions'</a:t>
            </a:r>
          </a:p>
          <a:p>
            <a:pPr>
              <a:spcAft>
                <a:spcPts val="800"/>
              </a:spcAft>
              <a:defRPr sz="1400">
                <a:solidFill>
                  <a:srgbClr val="C0C8E0"/>
                </a:solidFill>
                <a:latin typeface="Roboto"/>
              </a:defRPr>
            </a:pPr>
            <a:r>
              <a:t>    Change Agent Cost → entire 5-year ROI recalculates</a:t>
            </a:r>
          </a:p>
          <a:p>
            <a:pPr>
              <a:spcAft>
                <a:spcPts val="800"/>
              </a:spcAft>
              <a:defRPr sz="1400">
                <a:solidFill>
                  <a:srgbClr val="C0C8E0"/>
                </a:solidFill>
                <a:latin typeface="Roboto"/>
              </a:defRPr>
            </a:pPr>
            <a:r>
              <a:t>    Sensitivity: profitable even at costs doubled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Inter"/>
              </a:defRPr>
            </a:pPr>
            <a:r>
              <a:t>Sensitivity Analysis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1828800" cy="1097280"/>
          </a:xfrm>
          <a:prstGeom prst="roundRect">
            <a:avLst/>
          </a:prstGeom>
          <a:solidFill>
            <a:srgbClr val="1A1A2E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solidFill>
                  <a:srgbClr val="10B981"/>
                </a:solidFill>
                <a:latin typeface="Inter"/>
              </a:defRPr>
            </a:pPr>
            <a:r>
              <a:t>74.9%</a:t>
            </a:r>
          </a:p>
          <a:p>
            <a:pPr algn="ctr">
              <a:defRPr sz="900">
                <a:solidFill>
                  <a:srgbClr val="94A3B8"/>
                </a:solidFill>
              </a:defRPr>
            </a:pPr>
            <a:r>
              <a:t>Base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91839" y="1463040"/>
            <a:ext cx="1828800" cy="1097280"/>
          </a:xfrm>
          <a:prstGeom prst="roundRect">
            <a:avLst/>
          </a:prstGeom>
          <a:solidFill>
            <a:srgbClr val="1A1A2E"/>
          </a:solidFill>
          <a:ln w="2540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solidFill>
                  <a:srgbClr val="667EEA"/>
                </a:solidFill>
                <a:latin typeface="Inter"/>
              </a:defRPr>
            </a:pPr>
            <a:r>
              <a:t>~62%</a:t>
            </a:r>
          </a:p>
          <a:p>
            <a:pPr algn="ctr">
              <a:defRPr sz="900">
                <a:solidFill>
                  <a:srgbClr val="94A3B8"/>
                </a:solidFill>
              </a:defRPr>
            </a:pPr>
            <a:r>
              <a:t>+50%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852159" y="1463040"/>
            <a:ext cx="1828800" cy="1097280"/>
          </a:xfrm>
          <a:prstGeom prst="roundRect">
            <a:avLst/>
          </a:prstGeom>
          <a:solidFill>
            <a:srgbClr val="1A1A2E"/>
          </a:solidFill>
          <a:ln w="25400">
            <a:solidFill>
              <a:srgbClr val="EAB3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solidFill>
                  <a:srgbClr val="EAB308"/>
                </a:solidFill>
                <a:latin typeface="Inter"/>
              </a:defRPr>
            </a:pPr>
            <a:r>
              <a:t>~49%</a:t>
            </a:r>
          </a:p>
          <a:p>
            <a:pPr algn="ctr">
              <a:defRPr sz="900">
                <a:solidFill>
                  <a:srgbClr val="94A3B8"/>
                </a:solidFill>
              </a:defRPr>
            </a:pPr>
            <a:r>
              <a:t>Doubled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12480" y="1463040"/>
            <a:ext cx="1828800" cy="1097280"/>
          </a:xfrm>
          <a:prstGeom prst="roundRect">
            <a:avLst/>
          </a:prstGeom>
          <a:solidFill>
            <a:srgbClr val="1A1A2E"/>
          </a:solidFill>
          <a:ln w="254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solidFill>
                  <a:srgbClr val="EF4444"/>
                </a:solidFill>
                <a:latin typeface="Inter"/>
              </a:defRPr>
            </a:pPr>
            <a:r>
              <a:t>~24%</a:t>
            </a:r>
          </a:p>
          <a:p>
            <a:pPr algn="ctr">
              <a:defRPr sz="900">
                <a:solidFill>
                  <a:srgbClr val="94A3B8"/>
                </a:solidFill>
              </a:defRPr>
            </a:pPr>
            <a:r>
              <a:t>Tripled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926080"/>
            <a:ext cx="10058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C0C8E0"/>
                </a:solidFill>
                <a:latin typeface="Roboto"/>
              </a:defRPr>
            </a:pPr>
            <a:r>
              <a:t>    Profitable in all cost scenarios through Year 5</a:t>
            </a:r>
          </a:p>
          <a:p>
            <a:pPr>
              <a:spcAft>
                <a:spcPts val="800"/>
              </a:spcAft>
              <a:defRPr sz="1400">
                <a:solidFill>
                  <a:srgbClr val="C0C8E0"/>
                </a:solidFill>
                <a:latin typeface="Roboto"/>
              </a:defRPr>
            </a:pPr>
            <a:r>
              <a:t>    Revenue -20%: margin compressed but sustainable</a:t>
            </a:r>
          </a:p>
          <a:p>
            <a:pPr>
              <a:spcAft>
                <a:spcPts val="800"/>
              </a:spcAft>
              <a:defRPr sz="1400">
                <a:solidFill>
                  <a:srgbClr val="C0C8E0"/>
                </a:solidFill>
                <a:latin typeface="Roboto"/>
              </a:defRPr>
            </a:pPr>
            <a:r>
              <a:t>    All scenarios formula-driven from Inputs &amp; Assumptions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Inter"/>
              </a:defRPr>
            </a:pPr>
            <a:r>
              <a:t>Growth Roadmap</a:t>
            </a:r>
          </a:p>
        </p:txBody>
      </p:sp>
      <p:sp>
        <p:nvSpPr>
          <p:cNvPr id="4" name="Oval 3"/>
          <p:cNvSpPr/>
          <p:nvPr/>
        </p:nvSpPr>
        <p:spPr>
          <a:xfrm>
            <a:off x="1097280" y="1828800"/>
            <a:ext cx="274320" cy="27432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19456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10B981"/>
                </a:solidFill>
              </a:defRPr>
            </a:pPr>
            <a:r>
              <a:t>Q2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56032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C0C8E0"/>
                </a:solidFill>
              </a:defRPr>
            </a:pPr>
            <a:r>
              <a:t>Multi-tenant SaaS</a:t>
            </a:r>
          </a:p>
        </p:txBody>
      </p:sp>
      <p:sp>
        <p:nvSpPr>
          <p:cNvPr id="7" name="Oval 6"/>
          <p:cNvSpPr/>
          <p:nvPr/>
        </p:nvSpPr>
        <p:spPr>
          <a:xfrm>
            <a:off x="3840480" y="1828800"/>
            <a:ext cx="274320" cy="274320"/>
          </a:xfrm>
          <a:prstGeom prst="ellipse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0" y="219456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667EEA"/>
                </a:solidFill>
              </a:defRPr>
            </a:pPr>
            <a:r>
              <a:t>Q3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256032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C0C8E0"/>
                </a:solidFill>
              </a:defRPr>
            </a:pPr>
            <a:r>
              <a:t>API Marketplace</a:t>
            </a:r>
          </a:p>
        </p:txBody>
      </p:sp>
      <p:sp>
        <p:nvSpPr>
          <p:cNvPr id="10" name="Oval 9"/>
          <p:cNvSpPr/>
          <p:nvPr/>
        </p:nvSpPr>
        <p:spPr>
          <a:xfrm>
            <a:off x="6583680" y="1828800"/>
            <a:ext cx="274320" cy="274320"/>
          </a:xfrm>
          <a:prstGeom prst="ellipse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0" y="219456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EAB308"/>
                </a:solidFill>
              </a:defRPr>
            </a:pPr>
            <a:r>
              <a:t>Q4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0" y="256032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C0C8E0"/>
                </a:solidFill>
              </a:defRPr>
            </a:pPr>
            <a:r>
              <a:t>Enterprise Cert</a:t>
            </a:r>
          </a:p>
        </p:txBody>
      </p:sp>
      <p:sp>
        <p:nvSpPr>
          <p:cNvPr id="13" name="Oval 12"/>
          <p:cNvSpPr/>
          <p:nvPr/>
        </p:nvSpPr>
        <p:spPr>
          <a:xfrm>
            <a:off x="9326880" y="1828800"/>
            <a:ext cx="274320" cy="274320"/>
          </a:xfrm>
          <a:prstGeom prst="ellipse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0" y="219456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667EEA"/>
                </a:solidFill>
              </a:defRPr>
            </a:pPr>
            <a:r>
              <a:t>2027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0" y="256032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C0C8E0"/>
                </a:solidFill>
              </a:defRPr>
            </a:pPr>
            <a:r>
              <a:t>International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474720"/>
            <a:ext cx="10058400" cy="1097280"/>
          </a:xfrm>
          <a:prstGeom prst="roundRect">
            <a:avLst/>
          </a:prstGeom>
          <a:solidFill>
            <a:srgbClr val="2D0A0A"/>
          </a:solidFill>
          <a:ln w="254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EF4444"/>
                </a:solidFill>
              </a:defRPr>
            </a:pPr>
            <a:r>
              <a:t>HIGH-PRIORITY: n8n Reliability Upgrade</a:t>
            </a:r>
          </a:p>
          <a:p>
            <a:pPr algn="ctr">
              <a:defRPr sz="1100">
                <a:solidFill>
                  <a:srgbClr val="FCA5A5"/>
                </a:solidFill>
              </a:defRPr>
            </a:pPr>
            <a:r>
              <a:t>Auto-Heal applied: Prune 48h + Batch 50 → Projected 98.3% → 12% failure rate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Inter"/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94A3B8"/>
                </a:solidFill>
              </a:defRPr>
            </a:pPr>
            <a:r>
              <a:t>Antigravity-AI | Autonomous Intelligence Infrastructure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