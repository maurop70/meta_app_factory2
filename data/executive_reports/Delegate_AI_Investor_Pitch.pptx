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667EEA"/>
                </a:solidFill>
                <a:latin typeface="Inter"/>
              </a:defRPr>
            </a:pPr>
            <a:r>
              <a:t>Antigravity-AI - Investor 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  <a:latin typeface="Roboto"/>
              </a:defRPr>
            </a:pPr>
            <a:r>
              <a:t>Autonomous Intelligence Infrastructure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March 17,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667EEA"/>
                </a:solidFill>
                <a:latin typeface="Inter"/>
              </a:defRPr>
            </a:pPr>
            <a: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E293B"/>
                </a:solidFill>
                <a:latin typeface="Roboto"/>
              </a:defRPr>
            </a:pPr>
            <a:r>
              <a:t>  18-agent autonomous AI network (V7 Router)</a:t>
            </a:r>
          </a:p>
          <a:p>
            <a:pPr>
              <a:spcAft>
                <a:spcPts val="1000"/>
              </a:spcAft>
              <a:defRPr sz="1600">
                <a:solidFill>
                  <a:srgbClr val="1E293B"/>
                </a:solidFill>
                <a:latin typeface="Roboto"/>
              </a:defRPr>
            </a:pPr>
            <a:r>
              <a:t>  Processing 50+ actionable signals/day</a:t>
            </a:r>
          </a:p>
          <a:p>
            <a:pPr>
              <a:spcAft>
                <a:spcPts val="1000"/>
              </a:spcAft>
              <a:defRPr sz="1600">
                <a:solidFill>
                  <a:srgbClr val="1E293B"/>
                </a:solidFill>
                <a:latin typeface="Roboto"/>
              </a:defRPr>
            </a:pPr>
            <a:r>
              <a:t>  Self-healing infrastructure with 99.7% uptime target</a:t>
            </a:r>
          </a:p>
          <a:p>
            <a:pPr>
              <a:spcAft>
                <a:spcPts val="1000"/>
              </a:spcAft>
              <a:defRPr sz="1600">
                <a:solidFill>
                  <a:srgbClr val="1E293B"/>
                </a:solidFill>
                <a:latin typeface="Roboto"/>
              </a:defRPr>
            </a:pPr>
            <a:r>
              <a:t>  Break-even: Month 2</a:t>
            </a:r>
          </a:p>
          <a:p>
            <a:pPr>
              <a:spcAft>
                <a:spcPts val="1000"/>
              </a:spcAft>
              <a:defRPr sz="1600">
                <a:solidFill>
                  <a:srgbClr val="1E293B"/>
                </a:solidFill>
                <a:latin typeface="Roboto"/>
              </a:defRPr>
            </a:pPr>
            <a:r>
              <a:t>  Projected ROI: 340% Year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667EEA"/>
                </a:solidFill>
                <a:latin typeface="Inter"/>
              </a:defRPr>
            </a:pPr>
            <a:r>
              <a:t>Scalable Agent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E293B"/>
                </a:solidFill>
                <a:latin typeface="Roboto"/>
              </a:defRPr>
            </a:pPr>
            <a:r>
              <a:t>  V7 Agent Skills Router -&gt; 18 specialist agents</a:t>
            </a:r>
          </a:p>
          <a:p>
            <a:pPr>
              <a:spcAft>
                <a:spcPts val="1000"/>
              </a:spcAft>
              <a:defRPr sz="1600">
                <a:solidFill>
                  <a:srgbClr val="1E293B"/>
                </a:solidFill>
                <a:latin typeface="Roboto"/>
              </a:defRPr>
            </a:pPr>
            <a:r>
              <a:t>  Delegate AI Orchestrator for performance-based routing</a:t>
            </a:r>
          </a:p>
          <a:p>
            <a:pPr>
              <a:spcAft>
                <a:spcPts val="1000"/>
              </a:spcAft>
              <a:defRPr sz="1600">
                <a:solidFill>
                  <a:srgbClr val="1E293B"/>
                </a:solidFill>
                <a:latin typeface="Roboto"/>
              </a:defRPr>
            </a:pPr>
            <a:r>
              <a:t>  Leitner spaced-repetition error memory (5-level triage)</a:t>
            </a:r>
          </a:p>
          <a:p>
            <a:pPr>
              <a:spcAft>
                <a:spcPts val="1000"/>
              </a:spcAft>
              <a:defRPr sz="1600">
                <a:solidFill>
                  <a:srgbClr val="1E293B"/>
                </a:solidFill>
                <a:latin typeface="Roboto"/>
              </a:defRPr>
            </a:pPr>
            <a:r>
              <a:t>  DataValidationEngine: Signal Warnings on bad data</a:t>
            </a:r>
          </a:p>
          <a:p>
            <a:pPr>
              <a:spcAft>
                <a:spcPts val="1000"/>
              </a:spcAft>
              <a:defRPr sz="1600">
                <a:solidFill>
                  <a:srgbClr val="1E293B"/>
                </a:solidFill>
                <a:latin typeface="Roboto"/>
              </a:defRPr>
            </a:pPr>
            <a:r>
              <a:t>  News Bureau Chief: auto-triggered context refresh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667EEA"/>
                </a:solidFill>
                <a:latin typeface="Inter"/>
              </a:defRPr>
            </a:pPr>
            <a:r>
              <a:t>Agent Network Architecture (V7)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667EEA"/>
                </a:solidFill>
                <a:latin typeface="Inter"/>
              </a:defRPr>
            </a:pPr>
            <a:r>
              <a:t>Financial Projections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E293B"/>
                </a:solidFill>
                <a:latin typeface="Roboto"/>
              </a:defRPr>
            </a:pPr>
            <a:r>
              <a:t>  Break-even: Month 2</a:t>
            </a:r>
          </a:p>
          <a:p>
            <a:pPr>
              <a:spcAft>
                <a:spcPts val="1000"/>
              </a:spcAft>
              <a:defRPr sz="1600">
                <a:solidFill>
                  <a:srgbClr val="1E293B"/>
                </a:solidFill>
                <a:latin typeface="Roboto"/>
              </a:defRPr>
            </a:pPr>
            <a:r>
              <a:t>  Year 1 Revenue: $1.2M</a:t>
            </a:r>
          </a:p>
          <a:p>
            <a:pPr>
              <a:spcAft>
                <a:spcPts val="1000"/>
              </a:spcAft>
              <a:defRPr sz="1600">
                <a:solidFill>
                  <a:srgbClr val="1E293B"/>
                </a:solidFill>
                <a:latin typeface="Roboto"/>
              </a:defRPr>
            </a:pPr>
            <a:r>
              <a:t>  Gross Margin: 68%</a:t>
            </a:r>
          </a:p>
          <a:p>
            <a:pPr>
              <a:spcAft>
                <a:spcPts val="1000"/>
              </a:spcAft>
              <a:defRPr sz="1600">
                <a:solidFill>
                  <a:srgbClr val="1E293B"/>
                </a:solidFill>
                <a:latin typeface="Roboto"/>
              </a:defRPr>
            </a:pPr>
            <a:r>
              <a:t>  Cost per agent: $0.02/decision (token-efficient)</a:t>
            </a:r>
          </a:p>
          <a:p>
            <a:pPr>
              <a:spcAft>
                <a:spcPts val="1000"/>
              </a:spcAft>
              <a:defRPr sz="1600">
                <a:solidFill>
                  <a:srgbClr val="1E293B"/>
                </a:solidFill>
                <a:latin typeface="Roboto"/>
              </a:defRPr>
            </a:pPr>
            <a:r>
              <a:t>  See attached XLSX: 12-month P&amp;L + Charts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667EEA"/>
                </a:solidFill>
                <a:latin typeface="Inter"/>
              </a:defRPr>
            </a:pPr>
            <a:r>
              <a:t>Sensitivity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E293B"/>
                </a:solidFill>
                <a:latin typeface="Roboto"/>
              </a:defRPr>
            </a:pPr>
            <a:r>
              <a:t>  Base Case: 74.9% margin, Month 2 break-even</a:t>
            </a:r>
          </a:p>
          <a:p>
            <a:pPr>
              <a:spcAft>
                <a:spcPts val="1000"/>
              </a:spcAft>
              <a:defRPr sz="1600">
                <a:solidFill>
                  <a:srgbClr val="1E293B"/>
                </a:solidFill>
                <a:latin typeface="Roboto"/>
              </a:defRPr>
            </a:pPr>
            <a:r>
              <a:t>  Costs +50%: Margin shrinks but remains profitable</a:t>
            </a:r>
          </a:p>
          <a:p>
            <a:pPr>
              <a:spcAft>
                <a:spcPts val="1000"/>
              </a:spcAft>
              <a:defRPr sz="1600">
                <a:solidFill>
                  <a:srgbClr val="1E293B"/>
                </a:solidFill>
                <a:latin typeface="Roboto"/>
              </a:defRPr>
            </a:pPr>
            <a:r>
              <a:t>  Costs Doubled: Still positive annual net profit</a:t>
            </a:r>
          </a:p>
          <a:p>
            <a:pPr>
              <a:spcAft>
                <a:spcPts val="1000"/>
              </a:spcAft>
              <a:defRPr sz="1600">
                <a:solidFill>
                  <a:srgbClr val="1E293B"/>
                </a:solidFill>
                <a:latin typeface="Roboto"/>
              </a:defRPr>
            </a:pPr>
            <a:r>
              <a:t>  Revenue -20%: Margin compressed, breakeven delayed</a:t>
            </a:r>
          </a:p>
          <a:p>
            <a:pPr>
              <a:spcAft>
                <a:spcPts val="1000"/>
              </a:spcAft>
              <a:defRPr sz="1600">
                <a:solidFill>
                  <a:srgbClr val="1E293B"/>
                </a:solidFill>
                <a:latin typeface="Roboto"/>
              </a:defRPr>
            </a:pPr>
            <a:r>
              <a:t>  Full scenario modeling in attached spreadsheet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667EEA"/>
                </a:solidFill>
                <a:latin typeface="Inter"/>
              </a:defRPr>
            </a:pPr>
            <a:r>
              <a:t>Growth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E293B"/>
                </a:solidFill>
                <a:latin typeface="Roboto"/>
              </a:defRPr>
            </a:pPr>
            <a:r>
              <a:t>  Q2 2026: Multi-tenant SaaS deployment</a:t>
            </a:r>
          </a:p>
          <a:p>
            <a:pPr>
              <a:spcAft>
                <a:spcPts val="1000"/>
              </a:spcAft>
              <a:defRPr sz="1600">
                <a:solidFill>
                  <a:srgbClr val="1E293B"/>
                </a:solidFill>
                <a:latin typeface="Roboto"/>
              </a:defRPr>
            </a:pPr>
            <a:r>
              <a:t>  Q3 2026: API marketplace for agent skills</a:t>
            </a:r>
          </a:p>
          <a:p>
            <a:pPr>
              <a:spcAft>
                <a:spcPts val="1000"/>
              </a:spcAft>
              <a:defRPr sz="1600">
                <a:solidFill>
                  <a:srgbClr val="1E293B"/>
                </a:solidFill>
                <a:latin typeface="Roboto"/>
              </a:defRPr>
            </a:pPr>
            <a:r>
              <a:t>  Q4 2026: Enterprise compliance certification</a:t>
            </a:r>
          </a:p>
          <a:p>
            <a:pPr>
              <a:spcAft>
                <a:spcPts val="1000"/>
              </a:spcAft>
              <a:defRPr sz="1600">
                <a:solidFill>
                  <a:srgbClr val="1E293B"/>
                </a:solidFill>
                <a:latin typeface="Roboto"/>
              </a:defRPr>
            </a:pPr>
            <a:r>
              <a:t>  2027: International expansion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667EEA"/>
                </a:solidFill>
                <a:latin typeface="Inter"/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  <a:latin typeface="Roboto"/>
              </a:defRPr>
            </a:pPr>
            <a:r>
              <a:t>Antigravity-AI | Autonomous Intelligence Infrastructure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